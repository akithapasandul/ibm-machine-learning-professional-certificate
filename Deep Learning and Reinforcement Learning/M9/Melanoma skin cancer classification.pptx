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89" r:id="rId7"/>
    <p:sldId id="290" r:id="rId8"/>
    <p:sldId id="299" r:id="rId9"/>
    <p:sldId id="300" r:id="rId10"/>
    <p:sldId id="302" r:id="rId11"/>
    <p:sldId id="301" r:id="rId12"/>
    <p:sldId id="291" r:id="rId13"/>
    <p:sldId id="292" r:id="rId14"/>
    <p:sldId id="2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646" autoAdjust="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Melanoma skin cancer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2026521"/>
            <a:ext cx="9779182" cy="39487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Main 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Dataset Description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Exploration &amp; Preprocessing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 Training Variations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Recommended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Key Findings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Next step 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Main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primary objective is to develop a deep learning model to classify skin lesions as benign or malignant from clinical images. </a:t>
            </a:r>
          </a:p>
          <a:p>
            <a:pPr algn="just"/>
            <a:r>
              <a:rPr lang="en-US" dirty="0"/>
              <a:t>This binary classification task employs convolutional neural networks a subset of deep learning optimized for image analysis. </a:t>
            </a:r>
          </a:p>
          <a:p>
            <a:pPr algn="just"/>
            <a:r>
              <a:rPr lang="en-US" dirty="0"/>
              <a:t>The model aims to assist dermatologists in early and accurate diagnosis, reducing unnecessary biopsies and improving patient outcomes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b="1" dirty="0"/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8546875" cy="3332832"/>
          </a:xfrm>
        </p:spPr>
        <p:txBody>
          <a:bodyPr/>
          <a:lstStyle/>
          <a:p>
            <a:r>
              <a:rPr lang="en-US" dirty="0"/>
              <a:t>The dataset have 9605 training images (5000 benign, 4605 malignant) and 1000 test images (500 per class). </a:t>
            </a:r>
          </a:p>
          <a:p>
            <a:r>
              <a:rPr lang="en-US" dirty="0"/>
              <a:t>Key attributes:</a:t>
            </a:r>
          </a:p>
          <a:p>
            <a:pPr lvl="2"/>
            <a:r>
              <a:rPr lang="en-US" b="1" dirty="0"/>
              <a:t>Image size</a:t>
            </a:r>
            <a:r>
              <a:rPr lang="en-US" dirty="0"/>
              <a:t>: 224x224 pixels</a:t>
            </a:r>
          </a:p>
          <a:p>
            <a:pPr lvl="2"/>
            <a:r>
              <a:rPr lang="en-US" b="1" dirty="0"/>
              <a:t>Channels</a:t>
            </a:r>
            <a:r>
              <a:rPr lang="en-US" dirty="0"/>
              <a:t>: RGB</a:t>
            </a:r>
          </a:p>
          <a:p>
            <a:pPr lvl="2"/>
            <a:r>
              <a:rPr lang="en-US" b="1" dirty="0"/>
              <a:t>Classes</a:t>
            </a:r>
            <a:r>
              <a:rPr lang="en-US" dirty="0"/>
              <a:t>: Binary (Benign vs Malignant)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7146-4F05-B88B-7FCF-73E233EC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Exploration &amp; 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2CEDE-F9C8-11A5-4567-550FAAB07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2008414"/>
            <a:ext cx="9779182" cy="258304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Class Balance: Moderate imbalance addressed via random sampling during training.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Transforms: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Resize to 224x224.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Random horizontal flipping for augmentation.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Normalization using ImageNet statistics.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Dataset Splitting: 30 images per class moved to test set for validation</a:t>
            </a:r>
          </a:p>
        </p:txBody>
      </p:sp>
      <p:pic>
        <p:nvPicPr>
          <p:cNvPr id="8" name="Picture 7" descr="A collage of images of food&#10;&#10;Description automatically generated">
            <a:extLst>
              <a:ext uri="{FF2B5EF4-FFF2-40B4-BE49-F238E27FC236}">
                <a16:creationId xmlns:a16="http://schemas.microsoft.com/office/drawing/2014/main" id="{9FE2ABD4-7CB2-86BD-E306-AFA7177CA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409" y="4908738"/>
            <a:ext cx="671606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8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9CD5-95D5-F9D6-48AF-111B3BBD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anchor="b">
            <a:normAutofit/>
          </a:bodyPr>
          <a:lstStyle/>
          <a:p>
            <a:r>
              <a:rPr lang="en-US" b="1" dirty="0"/>
              <a:t>Model Training Variations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7335B-662B-5125-A8CA-C4983CDC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/>
          <a:p>
            <a:r>
              <a:rPr lang="en-US"/>
              <a:t>Baseline CNN: Simple architecture (3 convolutional layers, 2 fully connected layers).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Hyperparameters: LR=0.001, </a:t>
            </a:r>
            <a:r>
              <a:rPr lang="en-US" err="1"/>
              <a:t>batch_size</a:t>
            </a:r>
            <a:r>
              <a:rPr lang="en-US"/>
              <a:t>=6.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Accuracy: 85% on test set.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FA5FD-691F-13DD-AF7D-E295DE0F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234" y="2514276"/>
            <a:ext cx="5253769" cy="21146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857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4F5C-81BC-1ADC-FC4C-12ED8995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anchor="b">
            <a:normAutofit/>
          </a:bodyPr>
          <a:lstStyle/>
          <a:p>
            <a:r>
              <a:rPr lang="en-US" b="1" dirty="0"/>
              <a:t>Model Training Variations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C6360-AA4F-2209-3B8A-7FD766A77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/>
          <a:p>
            <a:r>
              <a:rPr lang="en-US"/>
              <a:t>Transfer Learning (ResNet-18): Pretrained on ImageNet, fine-tuned.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Hyperparameters: LR=0.0001, </a:t>
            </a:r>
            <a:r>
              <a:rPr lang="en-US" err="1"/>
              <a:t>batch_size</a:t>
            </a:r>
            <a:r>
              <a:rPr lang="en-US"/>
              <a:t>=6.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Accuracy: 93% on test set.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E24B9BC-CE42-00C4-A1D9-E794FBA8D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 r="9852" b="-2"/>
          <a:stretch/>
        </p:blipFill>
        <p:spPr>
          <a:xfrm>
            <a:off x="6283235" y="2023984"/>
            <a:ext cx="4663440" cy="33328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996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C4E6-43DF-C4C4-DF10-5BC13FEA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Recommended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7A82E-3A80-D898-0FBB-1DA625A80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b="1" dirty="0"/>
              <a:t>Modified ResNet-18 with regularization</a:t>
            </a:r>
            <a:r>
              <a:rPr lang="en-US" sz="2400" dirty="0"/>
              <a:t> is recommended for its balance of accuracy of 93% and robustness. While marginally more complex than the baseline, its use of pretrained weights and dropout layers enhances generalizability making it suitable for clinical deployment. Explainability can be achieved Grad-CAM visualizations to highlight lesion regions influencing predictions.</a:t>
            </a:r>
          </a:p>
        </p:txBody>
      </p:sp>
    </p:spTree>
    <p:extLst>
      <p:ext uri="{BB962C8B-B14F-4D97-AF65-F5344CB8AC3E}">
        <p14:creationId xmlns:p14="http://schemas.microsoft.com/office/powerpoint/2010/main" val="366502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b="1" dirty="0"/>
              <a:t>Key Findings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6813" y="2024063"/>
            <a:ext cx="9779183" cy="33321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Transfer learning (ResNet-18) outperformed custom CNNs by 7-8% accuracy.</a:t>
            </a:r>
          </a:p>
          <a:p>
            <a:r>
              <a:rPr lang="en-US" dirty="0"/>
              <a:t>Class imbalance minimally impacted performance due to random sampling.</a:t>
            </a:r>
          </a:p>
          <a:p>
            <a:r>
              <a:rPr lang="en-US" dirty="0"/>
              <a:t>Data augmentation improved model generalizability.</a:t>
            </a:r>
          </a:p>
          <a:p>
            <a:r>
              <a:rPr lang="en-US" dirty="0"/>
              <a:t>Malignant cases showed slightly higher misclassification rates, likely due to subtle visual features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US" dirty="0"/>
              <a:t>Next Step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69284" y="2562178"/>
            <a:ext cx="6628221" cy="3436937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Expand Dataset: Include more diverse images across skin tones and lesion stages.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Test Advanced Architectures: Evaluate </a:t>
            </a:r>
            <a:r>
              <a:rPr lang="en-US" dirty="0" err="1"/>
              <a:t>EfficientNet</a:t>
            </a:r>
            <a:r>
              <a:rPr lang="en-US" dirty="0"/>
              <a:t> or Vision Transformers.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Clinical Integration: Develop an API for real-time dermatologist assistance.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Explainability Audit: Validate Grad-CAM results with medical experts to ensure alignment with clinical markers</a:t>
            </a: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 err="1"/>
              <a:t>Akitha</a:t>
            </a:r>
            <a:r>
              <a:rPr lang="en-US" dirty="0"/>
              <a:t> </a:t>
            </a:r>
            <a:r>
              <a:rPr lang="en-US" dirty="0" err="1"/>
              <a:t>Pasandul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{C5ED2190-4D0F-4A21-9368-61286003C050}tf45331398_win32</Template>
  <TotalTime>85</TotalTime>
  <Words>410</Words>
  <Application>Microsoft Office PowerPoint</Application>
  <PresentationFormat>Widescreen</PresentationFormat>
  <Paragraphs>56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Melanoma skin cancer classification</vt:lpstr>
      <vt:lpstr>Content </vt:lpstr>
      <vt:lpstr>Main objective</vt:lpstr>
      <vt:lpstr>Dataset Description</vt:lpstr>
      <vt:lpstr>Data Exploration &amp; Preprocessing</vt:lpstr>
      <vt:lpstr>Model Training Variations</vt:lpstr>
      <vt:lpstr>Model Training Variations</vt:lpstr>
      <vt:lpstr>Recommended Model</vt:lpstr>
      <vt:lpstr>Key Findings</vt:lpstr>
      <vt:lpstr>Next Step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AKITHA PASANDUL</dc:creator>
  <cp:lastModifiedBy>AKITHA PASANDUL</cp:lastModifiedBy>
  <cp:revision>5</cp:revision>
  <dcterms:created xsi:type="dcterms:W3CDTF">2025-03-31T09:06:23Z</dcterms:created>
  <dcterms:modified xsi:type="dcterms:W3CDTF">2025-04-16T14:21:34Z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